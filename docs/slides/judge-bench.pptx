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bc741941-1604-ef14-ca8e-3773a338ce52}">
          <p14:sldIdLst>
            <p14:sldId id="256"/>
          </p14:sldIdLst>
        </p14:section>
        <p14:section name="Vấn đề" id="{78cef48f-f2fe-ac10-175e-e7a11a1f0746}">
          <p14:sldIdLst>
            <p14:sldId id="257"/>
          </p14:sldIdLst>
        </p14:section>
        <p14:section name="Thiết kế" id="{5f856fc3-1910-af03-2c9c-b90075090a3d}">
          <p14:sldIdLst>
            <p14:sldId id="258"/>
            <p14:sldId id="259"/>
            <p14:sldId id="260"/>
            <p14:sldId id="261"/>
          </p14:sldIdLst>
        </p14:section>
        <p14:section name="Dữ liệu và vận hành" id="{e4e98614-c757-58a7-fd69-ec760e4bc67d}">
          <p14:sldIdLst>
            <p14:sldId id="262"/>
            <p14:sldId id="263"/>
            <p14:sldId id="264"/>
          </p14:sldIdLst>
        </p14:section>
        <p14:section name="Trạng thái" id="{156b33ca-af91-5dd7-7634-fd44bbfd767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3A55"/>
                </a:solidFill>
                <a:latin typeface="+mn-lt"/>
              </a:rPr>
              <a:t>Split (%): CAL hiệu chỉnh · POOL chọn + chấm · EVAL Pha 4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</c:v>
                </c:pt>
              </c:strCache>
            </c:strRef>
          </c:tx>
          <c:spPr>
            <a:solidFill>
              <a:srgbClr val="9FB3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Chia theo chuỗi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Chia theo chuỗi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EVAL</c:v>
                </c:pt>
              </c:strCache>
            </c:strRef>
          </c:tx>
          <c:spPr>
            <a:solidFill>
              <a:srgbClr val="1F8A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Chia theo chuỗi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tiêu buổi trình bày: giải thích cách chúng ta chứng minh lô ảnh 5% do engine chọn có giá trị với một bên khác, không dùng thước của chính mình.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đo benchmark T pitch-v2 đêm 13–14/10 trên A100. Không mở lại T. Điểm yếu chính: thước nội bộ, cỡ mẫu nhỏ.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Tinh thần DataComp: giữ cố định cách chấm, chỉ thay đổi dữ liệu. Thứ tự bắt buộc: băm lô chọn trước khi giám khảo chạy.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thường là baseline rất mạnh (DeepCore, Mittal 2019). So với đối thủ mạnh nhất là phép so chặt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giám khảo khác kiến trúc, không trùng họ model với bất kỳ bên chọn nào (ma trận độc lập). Thắng phải đúng với cả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đạt ⇒ câu chữ cố định: chưa chứng minh ở cỡ mẫu này. Cấm đổi giám khảo, τ hay luật sau khi thấy số.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Waymo bị loại vì license cấm dùng để đánh giá hiệu năng xe thật. PandaSet: đọc license khi tải. AV2: CC BY-NC-SA 4.0.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CODA, DeepCore, Mittal 2019, Lüth 2023, self-preference bias. Mỗi bất biến có test tự động hoặc cổng mã thoát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Giá trị dữ liệu = model downstream tốt lên bao nhiêu (DataComp, AL 3D nuScenes). Notebook thẩm định dành cho chuyên gia, giám khảo cuộc thi.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Bước kế tiếp: đóng gói code + job pilot lên Drive, chạy notebook benchmark_2 tới CAL, rồi tải PandaSet/AV2.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VCuboidFIT · judge-bench-v1 · hồ sơ 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giám khảo độc lập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minh giá trị đầu ra của data mining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VCuboidFIT · hồ sơ 21 · 17/10/2026</a:t>
            </a:r>
            <a:endParaRPr lang="en-US" sz="1800" dirty="0"/>
          </a:p>
        </p:txBody>
      </p:sp>
      <p:sp>
        <p:nvSpPr>
          <p:cNvPr id="4" name="motif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otif-t"/>
          <p:cNvSpPr txBox="1"/>
          <p:nvPr/>
        </p:nvSpPr>
        <p:spPr>
          <a:xfrm>
            <a:off x="548640" y="548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được ảnh, chưa chứng minh giá trị</a:t>
            </a:r>
            <a:endParaRPr lang="en-US" sz="3000" dirty="0"/>
          </a:p>
        </p:txBody>
      </p:sp>
      <p:sp>
        <p:nvSpPr>
          <p:cNvPr id="3" name="p-body"/>
          <p:cNvSpPr txBox="1"/>
          <p:nvPr/>
        </p:nvSpPr>
        <p:spPr>
          <a:xfrm>
            <a:off x="457200" y="12344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Engine chọn 5% keyframe hiếm cho AEB (người đi bộ, xe đạp, xe máy)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Benchmark cũ (T, 35 scene nuScenes) đo bằng thước của chính dự án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Kết quả: khoảng tin cậy chứa 0 ⇒ "chưa chứng minh"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Câu hỏi đúng: lô ảnh có làm model của NGƯỜI KHÁC gặp khó và học tốt hơn không?</a:t>
            </a:r>
            <a:endParaRPr lang="en-US" sz="1600" dirty="0"/>
          </a:p>
        </p:txBody>
      </p:sp>
      <p:sp>
        <p:nvSpPr>
          <p:cNvPr id="4" name="p-stat"/>
          <p:cNvSpPr/>
          <p:nvPr/>
        </p:nvSpPr>
        <p:spPr>
          <a:xfrm>
            <a:off x="5577840" y="1234440"/>
            <a:ext cx="310896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5" name="p-stat-n"/>
          <p:cNvSpPr txBox="1"/>
          <p:nvPr/>
        </p:nvSpPr>
        <p:spPr>
          <a:xfrm>
            <a:off x="576072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−0,014</a:t>
            </a:r>
            <a:endParaRPr lang="en-US" sz="5400" dirty="0"/>
          </a:p>
        </p:txBody>
      </p:sp>
      <p:sp>
        <p:nvSpPr>
          <p:cNvPr id="6" name="p-stat-l"/>
          <p:cNvSpPr txBox="1"/>
          <p:nvPr/>
        </p:nvSpPr>
        <p:spPr>
          <a:xfrm>
            <a:off x="5760720" y="2651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ΔIY (M2 − M1) trên 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CI95 [−0,164; 0,084]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not shown / underpowered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tưởng: để một model khác làm giám khảo</a:t>
            </a:r>
            <a:endParaRPr lang="en-US" sz="3000" dirty="0"/>
          </a:p>
        </p:txBody>
      </p:sp>
      <p:sp>
        <p:nvSpPr>
          <p:cNvPr id="3" name="f-card1"/>
          <p:cNvSpPr/>
          <p:nvPr/>
        </p:nvSpPr>
        <p:spPr>
          <a:xfrm>
            <a:off x="457200" y="1280160"/>
            <a:ext cx="1874520" cy="3017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f-badge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-badge1-t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f-h1"/>
          <p:cNvSpPr txBox="1"/>
          <p:nvPr/>
        </p:nvSpPr>
        <p:spPr>
          <a:xfrm>
            <a:off x="640080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Cùng pool ảnh</a:t>
            </a:r>
            <a:endParaRPr lang="en-US" sz="1800" dirty="0"/>
          </a:p>
        </p:txBody>
      </p:sp>
      <p:sp>
        <p:nvSpPr>
          <p:cNvPr id="7" name="f-d1"/>
          <p:cNvSpPr txBox="1"/>
          <p:nvPr/>
        </p:nvSpPr>
        <p:spPr>
          <a:xfrm>
            <a:off x="640080" y="28803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Một tập POOL, cùng ngân sách B = 5% cho mọi bên</a:t>
            </a:r>
            <a:endParaRPr lang="en-US" sz="1400" dirty="0"/>
          </a:p>
        </p:txBody>
      </p:sp>
      <p:sp>
        <p:nvSpPr>
          <p:cNvPr id="8" name="f-card2"/>
          <p:cNvSpPr/>
          <p:nvPr/>
        </p:nvSpPr>
        <p:spPr>
          <a:xfrm>
            <a:off x="2560320" y="1280160"/>
            <a:ext cx="1874520" cy="3017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9" name="f-badge2"/>
          <p:cNvSpPr/>
          <p:nvPr/>
        </p:nvSpPr>
        <p:spPr>
          <a:xfrm>
            <a:off x="27432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-badge2-t"/>
          <p:cNvSpPr txBox="1"/>
          <p:nvPr/>
        </p:nvSpPr>
        <p:spPr>
          <a:xfrm>
            <a:off x="2743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f-h2"/>
          <p:cNvSpPr txBox="1"/>
          <p:nvPr/>
        </p:nvSpPr>
        <p:spPr>
          <a:xfrm>
            <a:off x="2743200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Mỗi bên chọn</a:t>
            </a:r>
            <a:endParaRPr lang="en-US" sz="1800" dirty="0"/>
          </a:p>
        </p:txBody>
      </p:sp>
      <p:sp>
        <p:nvSpPr>
          <p:cNvPr id="12" name="f-d2"/>
          <p:cNvSpPr txBox="1"/>
          <p:nvPr/>
        </p:nvSpPr>
        <p:spPr>
          <a:xfrm>
            <a:off x="2743200" y="28803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Engine của mình và bên thứ 3 chọn lô; lô được băm sha256 và commit</a:t>
            </a:r>
            <a:endParaRPr lang="en-US" sz="1400" dirty="0"/>
          </a:p>
        </p:txBody>
      </p:sp>
      <p:sp>
        <p:nvSpPr>
          <p:cNvPr id="13" name="f-card3"/>
          <p:cNvSpPr/>
          <p:nvPr/>
        </p:nvSpPr>
        <p:spPr>
          <a:xfrm>
            <a:off x="4663440" y="1280160"/>
            <a:ext cx="1874520" cy="3017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4" name="f-badge3"/>
          <p:cNvSpPr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-badge3-t"/>
          <p:cNvSpPr txBox="1"/>
          <p:nvPr/>
        </p:nvSpPr>
        <p:spPr>
          <a:xfrm>
            <a:off x="48463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f-h3"/>
          <p:cNvSpPr txBox="1"/>
          <p:nvPr/>
        </p:nvSpPr>
        <p:spPr>
          <a:xfrm>
            <a:off x="4846320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Giám khảo chấm</a:t>
            </a:r>
            <a:endParaRPr lang="en-US" sz="1800" dirty="0"/>
          </a:p>
        </p:txBody>
      </p:sp>
      <p:sp>
        <p:nvSpPr>
          <p:cNvPr id="17" name="f-d3"/>
          <p:cNvSpPr txBox="1"/>
          <p:nvPr/>
        </p:nvSpPr>
        <p:spPr>
          <a:xfrm>
            <a:off x="4846320" y="28803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detector AEB công khai chấm TOÀN pool một lần, không biết ai chọn gì</a:t>
            </a:r>
            <a:endParaRPr lang="en-US" sz="1400" dirty="0"/>
          </a:p>
        </p:txBody>
      </p:sp>
      <p:sp>
        <p:nvSpPr>
          <p:cNvPr id="18" name="f-card4"/>
          <p:cNvSpPr/>
          <p:nvPr/>
        </p:nvSpPr>
        <p:spPr>
          <a:xfrm>
            <a:off x="6766560" y="1280160"/>
            <a:ext cx="1874520" cy="3017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9" name="f-badge4"/>
          <p:cNvSpPr/>
          <p:nvPr/>
        </p:nvSpPr>
        <p:spPr>
          <a:xfrm>
            <a:off x="694944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f-badge4-t"/>
          <p:cNvSpPr txBox="1"/>
          <p:nvPr/>
        </p:nvSpPr>
        <p:spPr>
          <a:xfrm>
            <a:off x="6949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f-h4"/>
          <p:cNvSpPr txBox="1"/>
          <p:nvPr/>
        </p:nvSpPr>
        <p:spPr>
          <a:xfrm>
            <a:off x="6949440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 và kết luận</a:t>
            </a:r>
            <a:endParaRPr lang="en-US" sz="1800" dirty="0"/>
          </a:p>
        </p:txBody>
      </p:sp>
      <p:sp>
        <p:nvSpPr>
          <p:cNvPr id="22" name="f-d4"/>
          <p:cNvSpPr txBox="1"/>
          <p:nvPr/>
        </p:nvSpPr>
        <p:spPr>
          <a:xfrm>
            <a:off x="6949440" y="28803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Lô nào chứa nhiều đối tượng thật bị bỏ sót hơn, theo luật đã băm trước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thi đấu trên cùng một pool</a:t>
            </a:r>
            <a:endParaRPr lang="en-US" sz="3000" dirty="0"/>
          </a:p>
        </p:txBody>
      </p:sp>
      <p:sp>
        <p:nvSpPr>
          <p:cNvPr id="3" name="c-ours"/>
          <p:cNvSpPr/>
          <p:nvPr/>
        </p:nvSpPr>
        <p:spPr>
          <a:xfrm>
            <a:off x="457200" y="123444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c-ours-h"/>
          <p:cNvSpPr txBox="1"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Của mình · config đóng băng</a:t>
            </a:r>
            <a:endParaRPr lang="en-US" sz="1800" dirty="0"/>
          </a:p>
        </p:txBody>
      </p:sp>
      <p:sp>
        <p:nvSpPr>
          <p:cNvPr id="5" name="c-ours-b"/>
          <p:cNvSpPr txBox="1"/>
          <p:nvPr/>
        </p:nvSpPr>
        <p:spPr>
          <a:xfrm>
            <a:off x="685800" y="18745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OURS = rare_v24 multisensor (LiDAR + OpenCLIP + OpenCV)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M2 = rare_v24 lidar_only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M1 = c4_legacy Tầng 0</a:t>
            </a:r>
            <a:endParaRPr lang="en-US" sz="1500" dirty="0"/>
          </a:p>
        </p:txBody>
      </p:sp>
      <p:sp>
        <p:nvSpPr>
          <p:cNvPr id="6" name="c-x"/>
          <p:cNvSpPr/>
          <p:nvPr/>
        </p:nvSpPr>
        <p:spPr>
          <a:xfrm>
            <a:off x="4709160" y="123444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7" name="c-x-h"/>
          <p:cNvSpPr txBox="1"/>
          <p:nvPr/>
        </p:nvSpPr>
        <p:spPr>
          <a:xfrm>
            <a:off x="493776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Bên thứ 3 · chuẩn tài liệu</a:t>
            </a:r>
            <a:endParaRPr lang="en-US" sz="1800" dirty="0"/>
          </a:p>
        </p:txBody>
      </p:sp>
      <p:sp>
        <p:nvSpPr>
          <p:cNvPr id="8" name="c-x-b"/>
          <p:cNvSpPr txBox="1"/>
          <p:nvPr/>
        </p:nvSpPr>
        <p:spPr>
          <a:xfrm>
            <a:off x="4937760" y="18745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X0 random × 100 lần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X1 k-center coreset trên DINOv2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X2 uncertainty YOLO11m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X3 đếm nhiều người/xe nhất</a:t>
            </a:r>
            <a:endParaRPr lang="en-US" sz="1500" dirty="0"/>
          </a:p>
        </p:txBody>
      </p:sp>
      <p:sp>
        <p:nvSpPr>
          <p:cNvPr id="9" name="c-n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c-n-t"/>
          <p:cNvSpPr txBox="1"/>
          <p:nvPr/>
        </p:nvSpPr>
        <p:spPr>
          <a:xfrm>
            <a:off x="68580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Heuristic rẻ: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N1 ảnh mờ nhất · N2 ảnh tối nhất — engine phải thắng cả hai, không thì chưa thêm giá trị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Giám khảo: bài toán nhận diện cho AEB</a:t>
            </a:r>
            <a:endParaRPr lang="en-US" sz="3000" dirty="0"/>
          </a:p>
        </p:txBody>
      </p:sp>
      <p:sp>
        <p:nvSpPr>
          <p:cNvPr id="3" name="j-JA"/>
          <p:cNvSpPr/>
          <p:nvPr/>
        </p:nvSpPr>
        <p:spPr>
          <a:xfrm>
            <a:off x="457200" y="1234440"/>
            <a:ext cx="3657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j-b-JA"/>
          <p:cNvSpPr/>
          <p:nvPr/>
        </p:nvSpPr>
        <p:spPr>
          <a:xfrm>
            <a:off x="64008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j-b-JA-t"/>
          <p:cNvSpPr txBox="1"/>
          <p:nvPr/>
        </p:nvSpPr>
        <p:spPr>
          <a:xfrm>
            <a:off x="64008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JA</a:t>
            </a:r>
            <a:endParaRPr lang="en-US" sz="1600" dirty="0"/>
          </a:p>
        </p:txBody>
      </p:sp>
      <p:sp>
        <p:nvSpPr>
          <p:cNvPr id="6" name="j-n-JA"/>
          <p:cNvSpPr txBox="1"/>
          <p:nvPr/>
        </p:nvSpPr>
        <p:spPr>
          <a:xfrm>
            <a:off x="150876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Faster R-CNN v2</a:t>
            </a:r>
            <a:endParaRPr lang="en-US" sz="1800" dirty="0"/>
          </a:p>
        </p:txBody>
      </p:sp>
      <p:sp>
        <p:nvSpPr>
          <p:cNvPr id="7" name="j-d-JA"/>
          <p:cNvSpPr txBox="1"/>
          <p:nvPr/>
        </p:nvSpPr>
        <p:spPr>
          <a:xfrm>
            <a:off x="150876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torchvision · CNN 2 tầng</a:t>
            </a:r>
            <a:endParaRPr lang="en-US" sz="1300" dirty="0"/>
          </a:p>
        </p:txBody>
      </p:sp>
      <p:sp>
        <p:nvSpPr>
          <p:cNvPr id="8" name="j-JB"/>
          <p:cNvSpPr/>
          <p:nvPr/>
        </p:nvSpPr>
        <p:spPr>
          <a:xfrm>
            <a:off x="457200" y="2743200"/>
            <a:ext cx="3657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9" name="j-b-JB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j-b-JB-t"/>
          <p:cNvSpPr txBox="1"/>
          <p:nvPr/>
        </p:nvSpPr>
        <p:spPr>
          <a:xfrm>
            <a:off x="640080" y="3063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JB</a:t>
            </a:r>
            <a:endParaRPr lang="en-US" sz="1600" dirty="0"/>
          </a:p>
        </p:txBody>
      </p:sp>
      <p:sp>
        <p:nvSpPr>
          <p:cNvPr id="11" name="j-n-JB"/>
          <p:cNvSpPr txBox="1"/>
          <p:nvPr/>
        </p:nvSpPr>
        <p:spPr>
          <a:xfrm>
            <a:off x="150876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RT-DETR</a:t>
            </a:r>
            <a:endParaRPr lang="en-US" sz="1800" dirty="0"/>
          </a:p>
        </p:txBody>
      </p:sp>
      <p:sp>
        <p:nvSpPr>
          <p:cNvPr id="12" name="j-d-JB"/>
          <p:cNvSpPr txBox="1"/>
          <p:nvPr/>
        </p:nvSpPr>
        <p:spPr>
          <a:xfrm>
            <a:off x="150876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HF · transformer · COCO</a:t>
            </a:r>
            <a:endParaRPr lang="en-US" sz="1300" dirty="0"/>
          </a:p>
        </p:txBody>
      </p:sp>
      <p:sp>
        <p:nvSpPr>
          <p:cNvPr id="13" name="j-def-h"/>
          <p:cNvSpPr txBox="1"/>
          <p:nvPr/>
        </p:nvSpPr>
        <p:spPr>
          <a:xfrm>
            <a:off x="4480560" y="1234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Một đối tượng bị "struggle" khi</a:t>
            </a:r>
            <a:endParaRPr lang="en-US" sz="1800" dirty="0"/>
          </a:p>
        </p:txBody>
      </p:sp>
      <p:sp>
        <p:nvSpPr>
          <p:cNvPr id="14" name="j-def"/>
          <p:cNvSpPr txBox="1"/>
          <p:nvPr/>
        </p:nvSpPr>
        <p:spPr>
          <a:xfrm>
            <a:off x="4480560" y="173736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Là đối tượng GT thật: VRU ≤ 40 m hoặc xe trong hành lang phía trước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Giám khảo bỏ sót, hoặc điểm tin cậy dưới ngưỡng τ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τ hiệu chỉnh trên CAL: tìm thấy ≥ 90% đối tượng dễ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Ảnh rỗng = 0 điểm ⇒ không ăn gian bằng ảnh mờ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và luật thắng, băm trước khi có số</a:t>
            </a:r>
            <a:endParaRPr lang="en-US" sz="3000" dirty="0"/>
          </a:p>
        </p:txBody>
      </p:sp>
      <p:sp>
        <p:nvSpPr>
          <p:cNvPr id="3" name="m-f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m-f-t"/>
          <p:cNvSpPr txBox="1"/>
          <p:nvPr/>
        </p:nvSpPr>
        <p:spPr>
          <a:xfrm>
            <a:off x="685800" y="12344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SY@B = số đối tượng thật bị struggle trong lô  /  B          Δ = SY(OURS) − max(X1, X2, X3)</a:t>
            </a:r>
            <a:endParaRPr lang="en-US" sz="1800" dirty="0"/>
          </a:p>
        </p:txBody>
      </p:sp>
      <p:sp>
        <p:nvSpPr>
          <p:cNvPr id="5" name="m-r0"/>
          <p:cNvSpPr/>
          <p:nvPr/>
        </p:nvSpPr>
        <p:spPr>
          <a:xfrm>
            <a:off x="457200" y="251460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6" name="m-k0"/>
          <p:cNvSpPr txBox="1"/>
          <p:nvPr/>
        </p:nvSpPr>
        <p:spPr>
          <a:xfrm>
            <a:off x="640080" y="25146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CI95</a:t>
            </a:r>
            <a:endParaRPr lang="en-US" sz="1600" dirty="0"/>
          </a:p>
        </p:txBody>
      </p:sp>
      <p:sp>
        <p:nvSpPr>
          <p:cNvPr id="7" name="m-v0"/>
          <p:cNvSpPr txBox="1"/>
          <p:nvPr/>
        </p:nvSpPr>
        <p:spPr>
          <a:xfrm>
            <a:off x="1600200" y="2514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Bootstrap 2000 lượt theo cụm chuỗi, lô cố định, ghép cặp</a:t>
            </a:r>
            <a:endParaRPr lang="en-US" sz="1400" dirty="0"/>
          </a:p>
        </p:txBody>
      </p:sp>
      <p:sp>
        <p:nvSpPr>
          <p:cNvPr id="8" name="m-r1"/>
          <p:cNvSpPr/>
          <p:nvPr/>
        </p:nvSpPr>
        <p:spPr>
          <a:xfrm>
            <a:off x="4663440" y="251460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9" name="m-k1"/>
          <p:cNvSpPr txBox="1"/>
          <p:nvPr/>
        </p:nvSpPr>
        <p:spPr>
          <a:xfrm>
            <a:off x="4846320" y="25146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Holm</a:t>
            </a:r>
            <a:endParaRPr lang="en-US" sz="1600" dirty="0"/>
          </a:p>
        </p:txBody>
      </p:sp>
      <p:sp>
        <p:nvSpPr>
          <p:cNvPr id="10" name="m-v1"/>
          <p:cNvSpPr txBox="1"/>
          <p:nvPr/>
        </p:nvSpPr>
        <p:spPr>
          <a:xfrm>
            <a:off x="5806440" y="2514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Hiệu chỉnh cho các so sánh phụ (random, N1, N2, …)</a:t>
            </a:r>
            <a:endParaRPr lang="en-US" sz="1400" dirty="0"/>
          </a:p>
        </p:txBody>
      </p:sp>
      <p:sp>
        <p:nvSpPr>
          <p:cNvPr id="11" name="m-r2"/>
          <p:cNvSpPr/>
          <p:nvPr/>
        </p:nvSpPr>
        <p:spPr>
          <a:xfrm>
            <a:off x="457200" y="34747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2" name="m-k2"/>
          <p:cNvSpPr txBox="1"/>
          <p:nvPr/>
        </p:nvSpPr>
        <p:spPr>
          <a:xfrm>
            <a:off x="640080" y="3474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Thắng</a:t>
            </a:r>
            <a:endParaRPr lang="en-US" sz="1600" dirty="0"/>
          </a:p>
        </p:txBody>
      </p:sp>
      <p:sp>
        <p:nvSpPr>
          <p:cNvPr id="13" name="m-v2"/>
          <p:cNvSpPr txBox="1"/>
          <p:nvPr/>
        </p:nvSpPr>
        <p:spPr>
          <a:xfrm>
            <a:off x="1600200" y="3474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Cận dưới CI95 của Δ &gt; 0 với CẢ HAI giám khảo</a:t>
            </a:r>
            <a:endParaRPr lang="en-US" sz="1400" dirty="0"/>
          </a:p>
        </p:txBody>
      </p:sp>
      <p:sp>
        <p:nvSpPr>
          <p:cNvPr id="14" name="m-r3"/>
          <p:cNvSpPr/>
          <p:nvPr/>
        </p:nvSpPr>
        <p:spPr>
          <a:xfrm>
            <a:off x="4663440" y="34747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5" name="m-k3"/>
          <p:cNvSpPr txBox="1"/>
          <p:nvPr/>
        </p:nvSpPr>
        <p:spPr>
          <a:xfrm>
            <a:off x="4846320" y="3474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Prereg</a:t>
            </a:r>
            <a:endParaRPr lang="en-US" sz="1600" dirty="0"/>
          </a:p>
        </p:txBody>
      </p:sp>
      <p:sp>
        <p:nvSpPr>
          <p:cNvPr id="16" name="m-v3"/>
          <p:cNvSpPr txBox="1"/>
          <p:nvPr/>
        </p:nvSpPr>
        <p:spPr>
          <a:xfrm>
            <a:off x="5806440" y="3474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judge-bench-v1 · sha 4b8ef249… · mở POOL đúng một lần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trên dữ liệu khác nuScenes</a:t>
            </a:r>
            <a:endParaRPr lang="en-US" sz="3000" dirty="0"/>
          </a:p>
        </p:txBody>
      </p:sp>
      <p:sp>
        <p:nvSpPr>
          <p:cNvPr id="3" name="d-s0"/>
          <p:cNvSpPr/>
          <p:nvPr/>
        </p:nvSpPr>
        <p:spPr>
          <a:xfrm>
            <a:off x="45720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d-n0"/>
          <p:cNvSpPr txBox="1"/>
          <p:nvPr/>
        </p:nvSpPr>
        <p:spPr>
          <a:xfrm>
            <a:off x="64008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nuScenes 602 kf</a:t>
            </a:r>
            <a:endParaRPr lang="en-US" sz="1700" dirty="0"/>
          </a:p>
        </p:txBody>
      </p:sp>
      <p:sp>
        <p:nvSpPr>
          <p:cNvPr id="5" name="d-d0"/>
          <p:cNvSpPr txBox="1"/>
          <p:nvPr/>
        </p:nvSpPr>
        <p:spPr>
          <a:xfrm>
            <a:off x="64008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Chạy khô pipeline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không kết luận</a:t>
            </a:r>
            <a:endParaRPr lang="en-US" sz="1400" dirty="0"/>
          </a:p>
        </p:txBody>
      </p:sp>
      <p:sp>
        <p:nvSpPr>
          <p:cNvPr id="6" name="d-s1"/>
          <p:cNvSpPr/>
          <p:nvPr/>
        </p:nvSpPr>
        <p:spPr>
          <a:xfrm>
            <a:off x="324612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7" name="d-n1"/>
          <p:cNvSpPr txBox="1"/>
          <p:nvPr/>
        </p:nvSpPr>
        <p:spPr>
          <a:xfrm>
            <a:off x="342900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PandaSet</a:t>
            </a:r>
            <a:endParaRPr lang="en-US" sz="1700" dirty="0"/>
          </a:p>
        </p:txBody>
      </p:sp>
      <p:sp>
        <p:nvSpPr>
          <p:cNvPr id="8" name="d-d1"/>
          <p:cNvSpPr txBox="1"/>
          <p:nvPr/>
        </p:nvSpPr>
        <p:spPr>
          <a:xfrm>
            <a:off x="342900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camera + LiDAR 360°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bằng chứng sơ bộ</a:t>
            </a:r>
            <a:endParaRPr lang="en-US" sz="1400" dirty="0"/>
          </a:p>
        </p:txBody>
      </p:sp>
      <p:sp>
        <p:nvSpPr>
          <p:cNvPr id="9" name="d-s2"/>
          <p:cNvSpPr/>
          <p:nvPr/>
        </p:nvSpPr>
        <p:spPr>
          <a:xfrm>
            <a:off x="603504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d-n2"/>
          <p:cNvSpPr txBox="1"/>
          <p:nvPr/>
        </p:nvSpPr>
        <p:spPr>
          <a:xfrm>
            <a:off x="621792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Argoverse 2 VAL</a:t>
            </a:r>
            <a:endParaRPr lang="en-US" sz="1700" dirty="0"/>
          </a:p>
        </p:txBody>
      </p:sp>
      <p:sp>
        <p:nvSpPr>
          <p:cNvPr id="11" name="d-d2"/>
          <p:cNvSpPr txBox="1"/>
          <p:nvPr/>
        </p:nvSpPr>
        <p:spPr>
          <a:xfrm>
            <a:off x="621792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150 log, nhiều VRU hiếm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kết luận chính</a:t>
            </a:r>
            <a:endParaRPr lang="en-US" sz="1400" dirty="0"/>
          </a:p>
        </p:txBody>
      </p:sp>
      <p:graphicFrame>
        <p:nvGraphicFramePr>
          <p:cNvPr id="12" name="d-split" descr=""/>
          <p:cNvGraphicFramePr/>
          <p:nvPr/>
        </p:nvGraphicFramePr>
        <p:xfrm>
          <a:off x="457200" y="2926080"/>
          <a:ext cx="51206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d-zs"/>
          <p:cNvSpPr txBox="1"/>
          <p:nvPr/>
        </p:nvSpPr>
        <p:spPr>
          <a:xfrm>
            <a:off x="5852160" y="30175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Zero-shot: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engine giữ nguyên config nuScenes; adapter đưa ảnh về 1600×900 và định dạng nuScenes. Không ai "tune trên test".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Sáu cách chống tự lừa mình</a:t>
            </a:r>
            <a:endParaRPr lang="en-US" sz="3000" dirty="0"/>
          </a:p>
        </p:txBody>
      </p:sp>
      <p:sp>
        <p:nvSpPr>
          <p:cNvPr id="3" name="g-c0"/>
          <p:cNvSpPr/>
          <p:nvPr/>
        </p:nvSpPr>
        <p:spPr>
          <a:xfrm>
            <a:off x="45720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g-r0"/>
          <p:cNvSpPr txBox="1"/>
          <p:nvPr/>
        </p:nvSpPr>
        <p:spPr>
          <a:xfrm>
            <a:off x="64008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Ảnh mờ, tối, rỗng</a:t>
            </a:r>
            <a:endParaRPr lang="en-US" sz="1600" dirty="0"/>
          </a:p>
        </p:txBody>
      </p:sp>
      <p:sp>
        <p:nvSpPr>
          <p:cNvPr id="5" name="g-g0"/>
          <p:cNvSpPr txBox="1"/>
          <p:nvPr/>
        </p:nvSpPr>
        <p:spPr>
          <a:xfrm>
            <a:off x="64008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Chỉ chấm trên đối tượng GT thật</a:t>
            </a:r>
            <a:endParaRPr lang="en-US" sz="1400" dirty="0"/>
          </a:p>
        </p:txBody>
      </p:sp>
      <p:sp>
        <p:nvSpPr>
          <p:cNvPr id="6" name="g-c1"/>
          <p:cNvSpPr/>
          <p:nvPr/>
        </p:nvSpPr>
        <p:spPr>
          <a:xfrm>
            <a:off x="324612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7" name="g-r1"/>
          <p:cNvSpPr txBox="1"/>
          <p:nvPr/>
        </p:nvSpPr>
        <p:spPr>
          <a:xfrm>
            <a:off x="342900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Giám khảo thiên vị</a:t>
            </a:r>
            <a:endParaRPr lang="en-US" sz="1600" dirty="0"/>
          </a:p>
        </p:txBody>
      </p:sp>
      <p:sp>
        <p:nvSpPr>
          <p:cNvPr id="8" name="g-g1"/>
          <p:cNvSpPr txBox="1"/>
          <p:nvPr/>
        </p:nvSpPr>
        <p:spPr>
          <a:xfrm>
            <a:off x="342900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kiến trúc khác họ, đều phải đồng ý</a:t>
            </a:r>
            <a:endParaRPr lang="en-US" sz="1400" dirty="0"/>
          </a:p>
        </p:txBody>
      </p:sp>
      <p:sp>
        <p:nvSpPr>
          <p:cNvPr id="9" name="g-c2"/>
          <p:cNvSpPr/>
          <p:nvPr/>
        </p:nvSpPr>
        <p:spPr>
          <a:xfrm>
            <a:off x="603504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g-r2"/>
          <p:cNvSpPr txBox="1"/>
          <p:nvPr/>
        </p:nvSpPr>
        <p:spPr>
          <a:xfrm>
            <a:off x="621792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Baseline yếu</a:t>
            </a:r>
            <a:endParaRPr lang="en-US" sz="1600" dirty="0"/>
          </a:p>
        </p:txBody>
      </p:sp>
      <p:sp>
        <p:nvSpPr>
          <p:cNvPr id="11" name="g-g2"/>
          <p:cNvSpPr txBox="1"/>
          <p:nvPr/>
        </p:nvSpPr>
        <p:spPr>
          <a:xfrm>
            <a:off x="621792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random×100 + 3 phương pháp chuẩn</a:t>
            </a:r>
            <a:endParaRPr lang="en-US" sz="1400" dirty="0"/>
          </a:p>
        </p:txBody>
      </p:sp>
      <p:sp>
        <p:nvSpPr>
          <p:cNvPr id="12" name="g-c3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3" name="g-r3"/>
          <p:cNvSpPr txBox="1"/>
          <p:nvPr/>
        </p:nvSpPr>
        <p:spPr>
          <a:xfrm>
            <a:off x="64008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Tune trên test</a:t>
            </a:r>
            <a:endParaRPr lang="en-US" sz="1600" dirty="0"/>
          </a:p>
        </p:txBody>
      </p:sp>
      <p:sp>
        <p:nvSpPr>
          <p:cNvPr id="14" name="g-g3"/>
          <p:cNvSpPr txBox="1"/>
          <p:nvPr/>
        </p:nvSpPr>
        <p:spPr>
          <a:xfrm>
            <a:off x="640080" y="3611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Prereg băm; POOL/EVAL mở một lần</a:t>
            </a:r>
            <a:endParaRPr lang="en-US" sz="1400" dirty="0"/>
          </a:p>
        </p:txBody>
      </p:sp>
      <p:sp>
        <p:nvSpPr>
          <p:cNvPr id="15" name="g-c4"/>
          <p:cNvSpPr/>
          <p:nvPr/>
        </p:nvSpPr>
        <p:spPr>
          <a:xfrm>
            <a:off x="324612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6" name="g-r4"/>
          <p:cNvSpPr txBox="1"/>
          <p:nvPr/>
        </p:nvSpPr>
        <p:spPr>
          <a:xfrm>
            <a:off x="342900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Rò thông tin</a:t>
            </a:r>
            <a:endParaRPr lang="en-US" sz="1600" dirty="0"/>
          </a:p>
        </p:txBody>
      </p:sp>
      <p:sp>
        <p:nvSpPr>
          <p:cNvPr id="17" name="g-g4"/>
          <p:cNvSpPr txBox="1"/>
          <p:nvPr/>
        </p:nvSpPr>
        <p:spPr>
          <a:xfrm>
            <a:off x="3429000" y="3611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Selector không đọc GT; test chặn tự động</a:t>
            </a:r>
            <a:endParaRPr lang="en-US" sz="1400" dirty="0"/>
          </a:p>
        </p:txBody>
      </p:sp>
      <p:sp>
        <p:nvSpPr>
          <p:cNvPr id="18" name="g-c5"/>
          <p:cNvSpPr/>
          <p:nvPr/>
        </p:nvSpPr>
        <p:spPr>
          <a:xfrm>
            <a:off x="603504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9" name="g-r5"/>
          <p:cNvSpPr txBox="1"/>
          <p:nvPr/>
        </p:nvSpPr>
        <p:spPr>
          <a:xfrm>
            <a:off x="621792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Tin báo cáo</a:t>
            </a:r>
            <a:endParaRPr lang="en-US" sz="1600" dirty="0"/>
          </a:p>
        </p:txBody>
      </p:sp>
      <p:sp>
        <p:nvSpPr>
          <p:cNvPr id="20" name="g-g5"/>
          <p:cNvSpPr txBox="1"/>
          <p:nvPr/>
        </p:nvSpPr>
        <p:spPr>
          <a:xfrm>
            <a:off x="6217920" y="3611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Notebook thẩm định tự tính lại mọi số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 4 và cách người ngoài tự kiểm</a:t>
            </a:r>
            <a:endParaRPr lang="en-US" sz="3000" dirty="0"/>
          </a:p>
        </p:txBody>
      </p:sp>
      <p:sp>
        <p:nvSpPr>
          <p:cNvPr id="3" name="n-p4"/>
          <p:cNvSpPr/>
          <p:nvPr/>
        </p:nvSpPr>
        <p:spPr>
          <a:xfrm>
            <a:off x="457200" y="1234440"/>
            <a:ext cx="3977640" cy="324612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n-p4-h"/>
          <p:cNvSpPr txBox="1"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Pha 4 · train-on-selection</a:t>
            </a:r>
            <a:endParaRPr lang="en-US" sz="1800" dirty="0"/>
          </a:p>
        </p:txBody>
      </p:sp>
      <p:sp>
        <p:nvSpPr>
          <p:cNvPr id="5" name="n-p4-b"/>
          <p:cNvSpPr txBox="1"/>
          <p:nvPr/>
        </p:nvSpPr>
        <p:spPr>
          <a:xfrm>
            <a:off x="685800" y="18745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Fine-tune giám khảo JA trên đúng B ảnh của từng bên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Cùng recipe, cùng số bước, 3 seed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Đo AP50 VRU trên EVAL chưa ai thấy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≈ 5 giờ A100 cho Argoverse 2 (ước lượng)</a:t>
            </a:r>
            <a:endParaRPr lang="en-US" sz="1500" dirty="0"/>
          </a:p>
        </p:txBody>
      </p:sp>
      <p:sp>
        <p:nvSpPr>
          <p:cNvPr id="6" name="n-nb0"/>
          <p:cNvSpPr/>
          <p:nvPr/>
        </p:nvSpPr>
        <p:spPr>
          <a:xfrm>
            <a:off x="4709160" y="123444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7" name="n-nb-h0"/>
          <p:cNvSpPr txBox="1"/>
          <p:nvPr/>
        </p:nvSpPr>
        <p:spPr>
          <a:xfrm>
            <a:off x="493776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Notebook Colab A100</a:t>
            </a:r>
            <a:endParaRPr lang="en-US" sz="1700" dirty="0"/>
          </a:p>
        </p:txBody>
      </p:sp>
      <p:sp>
        <p:nvSpPr>
          <p:cNvPr id="8" name="n-nb-d0"/>
          <p:cNvSpPr txBox="1"/>
          <p:nvPr/>
        </p:nvSpPr>
        <p:spPr>
          <a:xfrm>
            <a:off x="493776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ô, một ô cấu hình, dashboard 9 phần: bảng điểm, forest Δ, đường ngân sách, ảnh ví dụ</a:t>
            </a:r>
            <a:endParaRPr lang="en-US" sz="1400" dirty="0"/>
          </a:p>
        </p:txBody>
      </p:sp>
      <p:sp>
        <p:nvSpPr>
          <p:cNvPr id="9" name="n-nb1"/>
          <p:cNvSpPr/>
          <p:nvPr/>
        </p:nvSpPr>
        <p:spPr>
          <a:xfrm>
            <a:off x="470916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n-nb-h1"/>
          <p:cNvSpPr txBox="1"/>
          <p:nvPr/>
        </p:nvSpPr>
        <p:spPr>
          <a:xfrm>
            <a:off x="493776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Notebook thẩm định</a:t>
            </a:r>
            <a:endParaRPr lang="en-US" sz="1700" dirty="0"/>
          </a:p>
        </p:txBody>
      </p:sp>
      <p:sp>
        <p:nvSpPr>
          <p:cNvPr id="11" name="n-nb-d1"/>
          <p:cNvSpPr txBox="1"/>
          <p:nvPr/>
        </p:nvSpPr>
        <p:spPr>
          <a:xfrm>
            <a:off x="493776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Chạy CPU, không import code dự án, kiểm sha và tự tính lại Δ, CI, Holm; lệch ⇒ banner đỏ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Trạng thái 17/10 và bước tiếp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Thiết kế + prereg · ✅ 126 test xanh · ✅ code đã push (6e477bd)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Chạy khô nuScenes trên Colab → PandaSet → Argoverse 2 → Pha 4 → thẩm định đối kháng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con số benchmark nào — mọi số sau này đi kèm sha và notebook thẩm định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CF Judge Bench">
  <a:themeElements>
    <a:clrScheme name="VCF Judge Bench">
      <a:dk1>
        <a:srgbClr val="14213D"/>
      </a:dk1>
      <a:lt1>
        <a:srgbClr val="FFFFFF"/>
      </a:lt1>
      <a:dk2>
        <a:srgbClr val="2B3A55"/>
      </a:dk2>
      <a:lt2>
        <a:srgbClr val="EEF2F7"/>
      </a:lt2>
      <a:accent1>
        <a:srgbClr val="F5A524"/>
      </a:accent1>
      <a:accent2>
        <a:srgbClr val="1F8A84"/>
      </a:accent2>
      <a:accent3>
        <a:srgbClr val="C8553D"/>
      </a:accent3>
      <a:accent4>
        <a:srgbClr val="6C7A96"/>
      </a:accent4>
      <a:accent5>
        <a:srgbClr val="9FB3C8"/>
      </a:accent5>
      <a:accent6>
        <a:srgbClr val="3E6FB0"/>
      </a:accent6>
      <a:hlink>
        <a:srgbClr val="3E6FB0"/>
      </a:hlink>
      <a:folHlink>
        <a:srgbClr val="6C7A96"/>
      </a:folHlink>
    </a:clrScheme>
    <a:fontScheme name="VCF Judge Ben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giám khảo độc lập — VCuboidFIT</dc:title>
  <dc:subject>PptxGenJS Presentation</dc:subject>
  <dc:creator>VCuboidFIT</dc:creator>
  <cp:lastModifiedBy>VCuboidFIT</cp:lastModifiedBy>
  <cp:revision>1</cp:revision>
  <dcterms:created xsi:type="dcterms:W3CDTF">2026-10-17T13:36:06Z</dcterms:created>
  <dcterms:modified xsi:type="dcterms:W3CDTF">2026-10-17T13:36:06Z</dcterms:modified>
</cp:coreProperties>
</file>